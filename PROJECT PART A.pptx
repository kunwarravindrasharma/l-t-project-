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eologica"/>
      <p:regular r:id="rId201314"/>
    </p:embeddedFont>
    <p:embeddedFont>
      <p:font typeface="Geologica Medium"/>
      <p:regular r:id="rId201315"/>
    </p:embeddedFont>
    <p:embeddedFont>
      <p:font typeface="Geologica SemiBold"/>
      <p:regular r:id="rId201316"/>
    </p:embeddedFont>
    <p:embeddedFont>
      <p:font typeface="Geologica Bold"/>
      <p:regular r:id="rId201317"/>
    </p:embeddedFont>
    <p:embeddedFont>
      <p:font typeface="Oxanium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3" name="Text 1"/>
          <p:cNvSpPr/>
          <p:nvPr/>
        </p:nvSpPr>
        <p:spPr>
          <a:xfrm>
            <a:off x="406390" y="4629349"/>
            <a:ext cx="3657509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000" spc="-150" kern="100" dirty="0">
                <a:solidFill>
                  <a:srgbClr val="FFFFFF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PROJECT REPORT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06390" y="5959483"/>
            <a:ext cx="3657509" cy="420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Teardown, Analysis, and Reverse Engineering of a Standard Computer Mouse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0288" y="0"/>
            <a:ext cx="5141883" cy="68579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21407" cy="685800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15620"/>
            <a:ext cx="71118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PROJECT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841131"/>
            <a:ext cx="6654634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5000" spc="-90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Executive Summary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09585" y="1680766"/>
            <a:ext cx="6654634" cy="1860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This technical document details the structured teardown, structural analysis, and functional mapping of standard computer mouse.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The study transitions from external physical inspection and historical design evaluation to safe mechanical disassembly, component identification via datasheets, and functional system-architecture mapping.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4470288" cy="59604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67519"/>
            <a:ext cx="6730832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External Features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558786" y="1083945"/>
            <a:ext cx="6730832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Physical Construct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58786" y="1484313"/>
            <a:ext cx="6730832" cy="300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Product Name/Model: Logitech Wireless Mouse (Compact Optical Mouse).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Manufacturer: Logitech.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External Dimensions: Compact profile, approximately 95 mm × 55 mm × 35 mm.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Materials &amp; Finish: Matte-textured black polycarbonate/ABS plastic upper shell and base, with a ribbed plastic scroll wheel.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Visible Screws/Seams: Primary assembly seams run horizontally along the middle perimeter; screw access ports are typically concealed beneath sliding glide feet or product labels.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F2F7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4470288" cy="5962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5319"/>
            <a:ext cx="1097252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Subsystems and Modes of Operation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63578" y="1382395"/>
            <a:ext cx="523226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3578" y="1688449"/>
            <a:ext cx="4978275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User Input Subsystem: Left click button, right click button, and a central mechanical scroll wheel.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841" y="1382395"/>
            <a:ext cx="523226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841" y="1688449"/>
            <a:ext cx="4978275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Optical Tracking Subsystem: Bottom-facing optical sensor LED and lens assembly for surface tracking.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3578" y="3040737"/>
            <a:ext cx="523226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3578" y="3346791"/>
            <a:ext cx="4978275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Processing &amp; Control Subsystem: Single-chip microcontroller unit handling signal debouncing, optical data processing, and wireless packet formatting.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49841" y="3040737"/>
            <a:ext cx="523226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04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841" y="3346791"/>
            <a:ext cx="4978275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Wireless Communication Subsystem: RF transceiver module or integrated radio chip paired with an internal PCB antenna.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578" y="4699179"/>
            <a:ext cx="523226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05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3578" y="5005233"/>
            <a:ext cx="4978275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Power Subsystem: Battery compartment, spring contacts, and a manual physical power toggle switch.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5848" y="4589959"/>
            <a:ext cx="5486263" cy="1658342"/>
          </a:xfrm>
          <a:custGeom>
            <a:avLst/>
            <a:gdLst/>
            <a:ahLst/>
            <a:cxnLst/>
            <a:rect l="l" t="t" r="r" b="b"/>
            <a:pathLst>
              <a:path w="5486263" h="1658342">
                <a:moveTo>
                  <a:pt x="0" y="0"/>
                </a:moveTo>
                <a:lnTo>
                  <a:pt x="5486263" y="0"/>
                </a:lnTo>
                <a:lnTo>
                  <a:pt x="5486263" y="1648817"/>
                </a:lnTo>
                <a:arcTo hR="9525" wR="9525" stAng="0" swAng="5400000"/>
                <a:lnTo>
                  <a:pt x="0" y="1658342"/>
                </a:lnTo>
                <a:lnTo>
                  <a:pt x="0" y="0"/>
                </a:lnTo>
                <a:close/>
              </a:path>
            </a:pathLst>
          </a:custGeom>
          <a:solidFill>
            <a:srgbClr val="DDECEE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4699179"/>
            <a:ext cx="523226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06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9841" y="5005233"/>
            <a:ext cx="4978275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Modes: Active/Tracking, Idle/Standby, Sleep, and Off.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89498" y="1273175"/>
            <a:ext cx="12700" cy="1658342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2925167"/>
            <a:ext cx="5486263" cy="12700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089498" y="2931517"/>
            <a:ext cx="12700" cy="1658441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48" y="2925167"/>
            <a:ext cx="5486263" cy="12700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5" y="4583609"/>
            <a:ext cx="5486263" cy="12700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089498" y="4589959"/>
            <a:ext cx="12700" cy="1658342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48" y="4583609"/>
            <a:ext cx="5486263" cy="12700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5319"/>
            <a:ext cx="1097252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Purpose of the Product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09585" y="1560195"/>
            <a:ext cx="548626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CORE FUNCTION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866249"/>
            <a:ext cx="5130672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To act as an intuitive, portable human-interface device that translates physical hand movements and finger clicks into smooth, precise cursor manipulation and commands on a computer screen.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51439" y="1560195"/>
            <a:ext cx="51306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PROBLEM SOLVED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51439" y="1866249"/>
            <a:ext cx="5130672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Eliminates the physical desk constraints and clutter of tethered wired mice, offering ergonomic mobility, untethered operation, and high-precision cursor control.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4374833"/>
            <a:ext cx="10972526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User Needs Addressed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9585" y="4775200"/>
            <a:ext cx="2514537" cy="1473200"/>
          </a:xfrm>
          <a:prstGeom prst="rect">
            <a:avLst/>
          </a:prstGeom>
          <a:solidFill>
            <a:srgbClr val="6C5C8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5003800"/>
            <a:ext cx="406390" cy="406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8179" y="5497195"/>
            <a:ext cx="2057349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Portability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28914" y="4775200"/>
            <a:ext cx="2514537" cy="1473200"/>
          </a:xfrm>
          <a:prstGeom prst="rect">
            <a:avLst/>
          </a:prstGeom>
          <a:solidFill>
            <a:srgbClr val="6C5C8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9" y="5003800"/>
            <a:ext cx="406390" cy="406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509" y="5497195"/>
            <a:ext cx="2057349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Reliability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248244" y="4775200"/>
            <a:ext cx="2514537" cy="1473200"/>
          </a:xfrm>
          <a:prstGeom prst="rect">
            <a:avLst/>
          </a:prstGeom>
          <a:solidFill>
            <a:srgbClr val="6C5C8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838" y="5003800"/>
            <a:ext cx="406390" cy="406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76838" y="5497195"/>
            <a:ext cx="2057349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Ergonomics &amp; Comfort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9067573" y="4775200"/>
            <a:ext cx="2514537" cy="1473200"/>
          </a:xfrm>
          <a:prstGeom prst="rect">
            <a:avLst/>
          </a:prstGeom>
          <a:solidFill>
            <a:srgbClr val="6C5C8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167" y="5003800"/>
            <a:ext cx="406390" cy="406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96167" y="5497195"/>
            <a:ext cx="2057349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Plug-and-Play Simplicity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6089498" y="1273175"/>
            <a:ext cx="12700" cy="2916237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5319"/>
            <a:ext cx="1097252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From Mechanical Genesis to Wireless Precision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09585" y="3560167"/>
            <a:ext cx="10972526" cy="28575"/>
          </a:xfrm>
          <a:prstGeom prst="roundRect">
            <a:avLst>
              <a:gd name="adj" fmla="val 39999"/>
            </a:avLst>
          </a:prstGeom>
          <a:solidFill>
            <a:srgbClr val="3F4850"/>
          </a:solidFill>
          <a:ln/>
        </p:spPr>
      </p:sp>
      <p:sp>
        <p:nvSpPr>
          <p:cNvPr id="4" name="Shape 2"/>
          <p:cNvSpPr/>
          <p:nvPr/>
        </p:nvSpPr>
        <p:spPr>
          <a:xfrm>
            <a:off x="2713565" y="2950567"/>
            <a:ext cx="28574" cy="609600"/>
          </a:xfrm>
          <a:prstGeom prst="roundRect">
            <a:avLst>
              <a:gd name="adj" fmla="val 40000"/>
            </a:avLst>
          </a:prstGeom>
          <a:solidFill>
            <a:srgbClr val="3F4850"/>
          </a:solidFill>
          <a:ln/>
        </p:spPr>
      </p:sp>
      <p:sp>
        <p:nvSpPr>
          <p:cNvPr id="5" name="Shape 3"/>
          <p:cNvSpPr/>
          <p:nvPr/>
        </p:nvSpPr>
        <p:spPr>
          <a:xfrm>
            <a:off x="2499258" y="3331567"/>
            <a:ext cx="457189" cy="457200"/>
          </a:xfrm>
          <a:prstGeom prst="roundRect">
            <a:avLst>
              <a:gd name="adj" fmla="val 2500"/>
            </a:avLst>
          </a:prstGeom>
          <a:solidFill>
            <a:srgbClr val="262F37"/>
          </a:solidFill>
          <a:ln w="12700">
            <a:solidFill>
              <a:srgbClr val="3F48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75456" y="3400177"/>
            <a:ext cx="30479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spc="-4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2780" y="1254125"/>
            <a:ext cx="3830145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800" spc="-3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Early Stage (1960s–1970s)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780" y="1641078"/>
            <a:ext cx="3830145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A bulky wooden box with perpendicular metal wheels/discs or early trackball designs.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58829" y="3560167"/>
            <a:ext cx="28574" cy="609600"/>
          </a:xfrm>
          <a:prstGeom prst="roundRect">
            <a:avLst>
              <a:gd name="adj" fmla="val 40000"/>
            </a:avLst>
          </a:prstGeom>
          <a:solidFill>
            <a:srgbClr val="3F4850"/>
          </a:solidFill>
          <a:ln/>
        </p:spPr>
      </p:sp>
      <p:sp>
        <p:nvSpPr>
          <p:cNvPr id="10" name="Shape 8"/>
          <p:cNvSpPr/>
          <p:nvPr/>
        </p:nvSpPr>
        <p:spPr>
          <a:xfrm>
            <a:off x="4744522" y="3331567"/>
            <a:ext cx="457189" cy="457200"/>
          </a:xfrm>
          <a:prstGeom prst="roundRect">
            <a:avLst>
              <a:gd name="adj" fmla="val 2500"/>
            </a:avLst>
          </a:prstGeom>
          <a:solidFill>
            <a:srgbClr val="262F37"/>
          </a:solidFill>
          <a:ln w="12700">
            <a:solidFill>
              <a:srgbClr val="3F48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0720" y="3400177"/>
            <a:ext cx="30479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spc="-4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057994" y="4372967"/>
            <a:ext cx="3830244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800" spc="-3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First Generation (1980s–1990s)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58044" y="4759920"/>
            <a:ext cx="3830244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Ball mouse with internal pinch rollers and optical encoder wheels.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04093" y="2950567"/>
            <a:ext cx="28574" cy="609600"/>
          </a:xfrm>
          <a:prstGeom prst="roundRect">
            <a:avLst>
              <a:gd name="adj" fmla="val 40000"/>
            </a:avLst>
          </a:prstGeom>
          <a:solidFill>
            <a:srgbClr val="3F4850"/>
          </a:solidFill>
          <a:ln/>
        </p:spPr>
      </p:sp>
      <p:sp>
        <p:nvSpPr>
          <p:cNvPr id="15" name="Shape 13"/>
          <p:cNvSpPr/>
          <p:nvPr/>
        </p:nvSpPr>
        <p:spPr>
          <a:xfrm>
            <a:off x="6989786" y="3331567"/>
            <a:ext cx="457189" cy="457200"/>
          </a:xfrm>
          <a:prstGeom prst="roundRect">
            <a:avLst>
              <a:gd name="adj" fmla="val 2500"/>
            </a:avLst>
          </a:prstGeom>
          <a:solidFill>
            <a:srgbClr val="262F37"/>
          </a:solidFill>
          <a:ln w="12700">
            <a:solidFill>
              <a:srgbClr val="3F48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5984" y="3400177"/>
            <a:ext cx="30479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spc="-4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03308" y="1254125"/>
            <a:ext cx="3830244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800" spc="-3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Second Generation (Late 1990s–2000s)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308" y="1906191"/>
            <a:ext cx="3830244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Solid-state optical sensors, LEDs or infrared/laser diodes, and USB plug-and-play.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449457" y="3560167"/>
            <a:ext cx="28574" cy="609600"/>
          </a:xfrm>
          <a:prstGeom prst="roundRect">
            <a:avLst>
              <a:gd name="adj" fmla="val 40000"/>
            </a:avLst>
          </a:prstGeom>
          <a:solidFill>
            <a:srgbClr val="3F4850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5149" y="3331567"/>
            <a:ext cx="457189" cy="457200"/>
          </a:xfrm>
          <a:prstGeom prst="roundRect">
            <a:avLst>
              <a:gd name="adj" fmla="val 2500"/>
            </a:avLst>
          </a:prstGeom>
          <a:solidFill>
            <a:srgbClr val="262F37"/>
          </a:solidFill>
          <a:ln w="12700">
            <a:solidFill>
              <a:srgbClr val="3F48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11348" y="3400177"/>
            <a:ext cx="30479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spc="-4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548671" y="4372967"/>
            <a:ext cx="3830244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800" spc="-3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Latest Generation (Present)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48671" y="4759920"/>
            <a:ext cx="3830244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Miniature CMOS optical sensors, power-management microcontrollers, 2.4 GHz RF nano-receivers, and Bluetooth multi-device switching.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5319"/>
            <a:ext cx="1097252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Engineering Importance in the Evolution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09585" y="1560195"/>
            <a:ext cx="36575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RELIABILITY &amp; MAINTENANCE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866249"/>
            <a:ext cx="3352716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Removing moving mechanical parts eradicated mechanical wear-and-tear and dust accumulation.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1886" y="1560195"/>
            <a:ext cx="335271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STANDARDIZATION &amp; USABILITY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1886" y="1866249"/>
            <a:ext cx="3047924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The shift from proprietary serial connections to universal USB standards and plug-and-play wireless protocols made mice universally compatible.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24602" y="1273175"/>
            <a:ext cx="3657509" cy="4975225"/>
          </a:xfrm>
          <a:custGeom>
            <a:avLst/>
            <a:gdLst/>
            <a:ahLst/>
            <a:cxnLst/>
            <a:rect l="l" t="t" r="r" b="b"/>
            <a:pathLst>
              <a:path w="3657509" h="4975225">
                <a:moveTo>
                  <a:pt x="0" y="0"/>
                </a:moveTo>
                <a:lnTo>
                  <a:pt x="3647984" y="0"/>
                </a:lnTo>
                <a:arcTo hR="9525" wR="9525" stAng="16200000" swAng="5400000"/>
                <a:lnTo>
                  <a:pt x="3657509" y="4965700"/>
                </a:lnTo>
                <a:arcTo hR="9525" wR="9525" stAng="0" swAng="5400000"/>
                <a:lnTo>
                  <a:pt x="0" y="4975225"/>
                </a:lnTo>
                <a:lnTo>
                  <a:pt x="0" y="0"/>
                </a:lnTo>
                <a:close/>
              </a:path>
            </a:pathLst>
          </a:custGeom>
          <a:solidFill>
            <a:srgbClr val="F2F7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394" y="1560195"/>
            <a:ext cx="335271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ERGONOMICS &amp; EFFICIENCY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394" y="1866249"/>
            <a:ext cx="3352716" cy="168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Miniaturization allowed hand-contouring shells that reduce repetitive strain during long computing sessions, while low-power wireless architectures freed users from desk clutter.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60743" y="1273175"/>
            <a:ext cx="12700" cy="4975225"/>
          </a:xfrm>
          <a:prstGeom prst="rect">
            <a:avLst/>
          </a:prstGeom>
          <a:solidFill>
            <a:srgbClr val="6C5C8D"/>
          </a:solidFill>
          <a:ln/>
        </p:spPr>
      </p:sp>
      <p:sp>
        <p:nvSpPr>
          <p:cNvPr id="11" name="Shape 9"/>
          <p:cNvSpPr/>
          <p:nvPr/>
        </p:nvSpPr>
        <p:spPr>
          <a:xfrm>
            <a:off x="7918252" y="1273175"/>
            <a:ext cx="12700" cy="4975225"/>
          </a:xfrm>
          <a:prstGeom prst="rect">
            <a:avLst/>
          </a:prstGeom>
          <a:solidFill>
            <a:srgbClr val="6C5C8D"/>
          </a:solidFill>
          <a:ln/>
        </p:spPr>
      </p:sp>
      <p:sp>
        <p:nvSpPr>
          <p:cNvPr id="12" name="Text 10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67519"/>
            <a:ext cx="5562461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Internal Components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558786" y="1095375"/>
            <a:ext cx="5562461" cy="2140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The product under analysis is a standard wireless optical computer mouse powered by a single consumer battery and operated via a USB nano-receiver.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It is designed to capture user physical inputs—clicks, scrolling, and X-Y translation—and translate them into high-speed radio frequency signals for host computer navigation.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2237" y="0"/>
            <a:ext cx="2768531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23164" y="0"/>
            <a:ext cx="2768531" cy="6858000"/>
          </a:xfrm>
          <a:prstGeom prst="rect">
            <a:avLst/>
          </a:prstGeom>
          <a:solidFill>
            <a:srgbClr val="F2F7F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164" y="0"/>
            <a:ext cx="2768531" cy="6858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0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5319"/>
            <a:ext cx="1097252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Internal Block Diagram: Functional View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09585" y="1273175"/>
            <a:ext cx="2590735" cy="1965920"/>
          </a:xfrm>
          <a:prstGeom prst="rect">
            <a:avLst/>
          </a:prstGeom>
          <a:solidFill>
            <a:srgbClr val="F2F7F6"/>
          </a:solidFill>
          <a:ln/>
        </p:spPr>
      </p:sp>
      <p:sp>
        <p:nvSpPr>
          <p:cNvPr id="4" name="Shape 2"/>
          <p:cNvSpPr/>
          <p:nvPr/>
        </p:nvSpPr>
        <p:spPr>
          <a:xfrm>
            <a:off x="812780" y="1501775"/>
            <a:ext cx="459074" cy="355600"/>
          </a:xfrm>
          <a:prstGeom prst="roundRect">
            <a:avLst>
              <a:gd name="adj" fmla="val 3214"/>
            </a:avLst>
          </a:prstGeom>
          <a:solidFill>
            <a:srgbClr val="071018"/>
          </a:solidFill>
          <a:ln w="12700">
            <a:solidFill>
              <a:srgbClr val="3F48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7077" y="1577975"/>
            <a:ext cx="84006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780" y="1944370"/>
            <a:ext cx="2184345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Power Source: 1x AA/AAA Battery.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505112" y="1273175"/>
            <a:ext cx="2438339" cy="1965920"/>
          </a:xfrm>
          <a:prstGeom prst="rect">
            <a:avLst/>
          </a:prstGeom>
          <a:solidFill>
            <a:srgbClr val="F2F7F6"/>
          </a:solidFill>
          <a:ln/>
        </p:spPr>
      </p:sp>
      <p:sp>
        <p:nvSpPr>
          <p:cNvPr id="8" name="Shape 6"/>
          <p:cNvSpPr/>
          <p:nvPr/>
        </p:nvSpPr>
        <p:spPr>
          <a:xfrm>
            <a:off x="3708307" y="1501775"/>
            <a:ext cx="484175" cy="355600"/>
          </a:xfrm>
          <a:prstGeom prst="roundRect">
            <a:avLst>
              <a:gd name="adj" fmla="val 3214"/>
            </a:avLst>
          </a:prstGeom>
          <a:solidFill>
            <a:srgbClr val="071018"/>
          </a:solidFill>
          <a:ln w="12700">
            <a:solidFill>
              <a:srgbClr val="3F48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22604" y="1577975"/>
            <a:ext cx="86516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08307" y="1944370"/>
            <a:ext cx="2031949" cy="1060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Power Management: Voltage LDO / DC regulation.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48244" y="1273175"/>
            <a:ext cx="2514537" cy="1965920"/>
          </a:xfrm>
          <a:prstGeom prst="rect">
            <a:avLst/>
          </a:prstGeom>
          <a:solidFill>
            <a:srgbClr val="DDECEE"/>
          </a:solidFill>
          <a:ln/>
        </p:spPr>
      </p:sp>
      <p:sp>
        <p:nvSpPr>
          <p:cNvPr id="12" name="Shape 10"/>
          <p:cNvSpPr/>
          <p:nvPr/>
        </p:nvSpPr>
        <p:spPr>
          <a:xfrm>
            <a:off x="6451439" y="1501775"/>
            <a:ext cx="486160" cy="355600"/>
          </a:xfrm>
          <a:prstGeom prst="roundRect">
            <a:avLst>
              <a:gd name="adj" fmla="val 3214"/>
            </a:avLst>
          </a:prstGeom>
          <a:solidFill>
            <a:srgbClr val="071018"/>
          </a:solidFill>
          <a:ln w="12700">
            <a:solidFill>
              <a:srgbClr val="3F48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736" y="1577975"/>
            <a:ext cx="86715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51439" y="1944370"/>
            <a:ext cx="2108147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User Input: Micro-switches.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067573" y="1273175"/>
            <a:ext cx="2514537" cy="1965920"/>
          </a:xfrm>
          <a:prstGeom prst="rect">
            <a:avLst/>
          </a:prstGeom>
          <a:solidFill>
            <a:srgbClr val="DDECEE"/>
          </a:solidFill>
          <a:ln/>
        </p:spPr>
      </p:sp>
      <p:sp>
        <p:nvSpPr>
          <p:cNvPr id="16" name="Shape 14"/>
          <p:cNvSpPr/>
          <p:nvPr/>
        </p:nvSpPr>
        <p:spPr>
          <a:xfrm>
            <a:off x="9270768" y="1501775"/>
            <a:ext cx="491815" cy="355600"/>
          </a:xfrm>
          <a:prstGeom prst="roundRect">
            <a:avLst>
              <a:gd name="adj" fmla="val 3214"/>
            </a:avLst>
          </a:prstGeom>
          <a:solidFill>
            <a:srgbClr val="071018"/>
          </a:solidFill>
          <a:ln w="12700">
            <a:solidFill>
              <a:srgbClr val="3F48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85065" y="1577975"/>
            <a:ext cx="87280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70768" y="1944370"/>
            <a:ext cx="2108147" cy="795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Optical Sensor: CMOS / lens and LED illumination.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9585" y="3543895"/>
            <a:ext cx="2590735" cy="1965920"/>
          </a:xfrm>
          <a:prstGeom prst="rect">
            <a:avLst/>
          </a:prstGeom>
          <a:solidFill>
            <a:srgbClr val="63D9F2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780" y="3772495"/>
            <a:ext cx="486953" cy="355600"/>
          </a:xfrm>
          <a:prstGeom prst="roundRect">
            <a:avLst>
              <a:gd name="adj" fmla="val 3214"/>
            </a:avLst>
          </a:prstGeom>
          <a:solidFill>
            <a:srgbClr val="071018"/>
          </a:solidFill>
          <a:ln w="12700">
            <a:solidFill>
              <a:srgbClr val="3F48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7077" y="3848695"/>
            <a:ext cx="86794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2780" y="4215090"/>
            <a:ext cx="2184345" cy="795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Microcontroller: MCU / ASIC, the central brain.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505112" y="3543895"/>
            <a:ext cx="2438339" cy="1965920"/>
          </a:xfrm>
          <a:prstGeom prst="rect">
            <a:avLst/>
          </a:prstGeom>
          <a:solidFill>
            <a:srgbClr val="63D9F2"/>
          </a:solidFill>
          <a:ln/>
        </p:spPr>
      </p:sp>
      <p:sp>
        <p:nvSpPr>
          <p:cNvPr id="24" name="Shape 22"/>
          <p:cNvSpPr/>
          <p:nvPr/>
        </p:nvSpPr>
        <p:spPr>
          <a:xfrm>
            <a:off x="3708307" y="3772495"/>
            <a:ext cx="498562" cy="355600"/>
          </a:xfrm>
          <a:prstGeom prst="roundRect">
            <a:avLst>
              <a:gd name="adj" fmla="val 3214"/>
            </a:avLst>
          </a:prstGeom>
          <a:solidFill>
            <a:srgbClr val="071018"/>
          </a:solidFill>
          <a:ln w="12700">
            <a:solidFill>
              <a:srgbClr val="3F48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22604" y="3848695"/>
            <a:ext cx="87955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08307" y="4215090"/>
            <a:ext cx="2031949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RF Transceiver: 2.4 GHz core.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248244" y="3543895"/>
            <a:ext cx="5333867" cy="1965920"/>
          </a:xfrm>
          <a:prstGeom prst="rect">
            <a:avLst/>
          </a:prstGeom>
          <a:solidFill>
            <a:srgbClr val="F2F7F6"/>
          </a:solidFill>
          <a:ln/>
        </p:spPr>
      </p:sp>
      <p:sp>
        <p:nvSpPr>
          <p:cNvPr id="28" name="Shape 26"/>
          <p:cNvSpPr/>
          <p:nvPr/>
        </p:nvSpPr>
        <p:spPr>
          <a:xfrm>
            <a:off x="6451439" y="3772495"/>
            <a:ext cx="478123" cy="355600"/>
          </a:xfrm>
          <a:prstGeom prst="roundRect">
            <a:avLst>
              <a:gd name="adj" fmla="val 3214"/>
            </a:avLst>
          </a:prstGeom>
          <a:solidFill>
            <a:srgbClr val="071018"/>
          </a:solidFill>
          <a:ln w="12700">
            <a:solidFill>
              <a:srgbClr val="3F48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736" y="3848695"/>
            <a:ext cx="85911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51439" y="4215090"/>
            <a:ext cx="4927477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USB Nano-Dongle: Host system interface.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09585" y="5688949"/>
            <a:ext cx="10972526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Power and input signals converge at the microcontroller, move through the RF transceiver, and reach the host through the USB nano-dongle.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5319"/>
            <a:ext cx="1097252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Complete Working Flow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09585" y="1532830"/>
            <a:ext cx="80940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7101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202" y="1509395"/>
            <a:ext cx="10594908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Power Initialization: The battery supplies DC voltage, regulated by internal traces to power the active components.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2512616"/>
            <a:ext cx="83252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7101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0319" y="2489180"/>
            <a:ext cx="10571791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Motion Acquisition: The LED illuminates the tracking plane while the optical sensor records surface variations.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3492401"/>
            <a:ext cx="83440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7101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2204" y="3468965"/>
            <a:ext cx="10569906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Signal Processing: The MCU computes X-Y vector coordinates and checks the state of the left, right, and scroll-wheel micro-switches.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585" y="4472186"/>
            <a:ext cx="83946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7101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04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17264" y="4448750"/>
            <a:ext cx="10564846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Wireless Transmission: Processed data packets are transmitted via the 2.4 GHz radio frequency module to the external USB receiver.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585" y="5217716"/>
            <a:ext cx="10972526" cy="1030684"/>
          </a:xfrm>
          <a:custGeom>
            <a:avLst/>
            <a:gdLst/>
            <a:ahLst/>
            <a:cxnLst/>
            <a:rect l="l" t="t" r="r" b="b"/>
            <a:pathLst>
              <a:path w="10972526" h="1030684">
                <a:moveTo>
                  <a:pt x="0" y="0"/>
                </a:moveTo>
                <a:lnTo>
                  <a:pt x="10972526" y="0"/>
                </a:lnTo>
                <a:lnTo>
                  <a:pt x="10972526" y="1021159"/>
                </a:lnTo>
                <a:arcTo hR="9525" wR="9525" stAng="0" swAng="5400000"/>
                <a:lnTo>
                  <a:pt x="9525" y="1030684"/>
                </a:lnTo>
                <a:arcTo hR="9525" wR="9525" stAng="5400000" swAng="5400000"/>
                <a:lnTo>
                  <a:pt x="0" y="0"/>
                </a:lnTo>
                <a:close/>
              </a:path>
            </a:pathLst>
          </a:custGeom>
          <a:solidFill>
            <a:srgbClr val="F2F7F6"/>
          </a:solidFill>
          <a:ln/>
        </p:spPr>
      </p:sp>
      <p:sp>
        <p:nvSpPr>
          <p:cNvPr id="12" name="Text 10"/>
          <p:cNvSpPr/>
          <p:nvPr/>
        </p:nvSpPr>
        <p:spPr>
          <a:xfrm>
            <a:off x="838179" y="5477371"/>
            <a:ext cx="83490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05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41295" y="5453936"/>
            <a:ext cx="10112221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Host Execution: The computer’s operating system reads the incoming USB HID data and moves the on-screen cursor or executes click commands accordingly.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9585" y="2272010"/>
            <a:ext cx="10972526" cy="12700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5" y="3251795"/>
            <a:ext cx="10972526" cy="12700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5" y="4231580"/>
            <a:ext cx="10972526" cy="12700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5211366"/>
            <a:ext cx="10972526" cy="12700"/>
          </a:xfrm>
          <a:prstGeom prst="rect">
            <a:avLst/>
          </a:prstGeom>
          <a:solidFill>
            <a:srgbClr val="DDECEE">
              <a:alpha val="2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2026-10-07T14:54:48Z</dcterms:created>
  <dcterms:modified xsi:type="dcterms:W3CDTF">2026-10-07T14:54:48Z</dcterms:modified>
</cp:coreProperties>
</file>